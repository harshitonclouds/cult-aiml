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6949440" cy="672998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49440" y="0"/>
            <a:ext cx="50292" cy="685800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0014"/>
                </a:solidFill>
                <a:latin typeface="Calibri"/>
              </a:rPr>
              <a:t>NETFLIX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Calibri"/>
              </a:rPr>
              <a:t>ORIGINAL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463040" cy="36576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Calibri"/>
              </a:rPr>
              <a:t>Reimagining</a:t>
            </a:r>
          </a:p>
          <a:p>
            <a:pPr algn="l"/>
            <a:r>
              <a:rPr sz="5000" b="1">
                <a:solidFill>
                  <a:srgbClr val="E50014"/>
                </a:solidFill>
                <a:latin typeface="Calibri"/>
              </a:rPr>
              <a:t>Content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  <a:latin typeface="Calibri"/>
              </a:rPr>
              <a:t>Building a Scalable Personalized Recommendation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  •  Netflix Prize Dataset (100M+ ratings)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9592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  •  Large-scale Collaborative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7997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  •  Explainable Recommendation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28032"/>
            <a:ext cx="6217920" cy="228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983480"/>
            <a:ext cx="2971800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983480"/>
            <a:ext cx="54864" cy="105156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0566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AUTHOR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85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Harshit Gupta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605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24113053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4983480"/>
            <a:ext cx="2971800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4983480"/>
            <a:ext cx="54864" cy="105156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50566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AUTHOR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5285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Ishant Bharti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8" y="5605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24115076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74320"/>
            <a:ext cx="2194560" cy="2286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5486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50014"/>
                </a:solidFill>
                <a:latin typeface="Calibri"/>
              </a:rPr>
              <a:t>100M+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  <a:latin typeface="Calibri"/>
              </a:rPr>
              <a:t>Movie Ratings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274320"/>
            <a:ext cx="2194560" cy="2286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5486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SVD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1188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  <a:latin typeface="Calibri"/>
              </a:rPr>
              <a:t>Prize-Winning
Algorithm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2743200"/>
            <a:ext cx="4709160" cy="12801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83464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5E5E5"/>
                </a:solidFill>
                <a:latin typeface="Calibri"/>
              </a:rPr>
              <a:t>Netflix Prize Dataset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24612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  <a:latin typeface="Calibri"/>
              </a:rPr>
              <a:t>Collaborative Filtering  ·  Matrix Factorization  ·  ALS  ·  SVD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4206240"/>
            <a:ext cx="2194560" cy="2423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800"/>
                </a:solidFill>
                <a:latin typeface="Calibri"/>
              </a:rPr>
              <a:t>RMSE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846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0.98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Calibri"/>
              </a:rPr>
              <a:t>Best 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55480" y="4206240"/>
            <a:ext cx="2194560" cy="24231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50014"/>
                </a:solidFill>
                <a:latin typeface="Calibri"/>
              </a:rPr>
              <a:t>TOP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4846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Personalized
Recs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207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0014"/>
                </a:solidFill>
                <a:latin typeface="Calibri"/>
              </a:rPr>
              <a:t>NETFLIX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Calibri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Why Recommendation Systems Are Challenging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11365992" cy="804672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90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AA"/>
                </a:solidFill>
                <a:latin typeface="Calibri"/>
              </a:rPr>
              <a:t>KEY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11000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Predict user preferences and recommend Top-10 movies efficiently.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423160"/>
            <a:ext cx="2697480" cy="3566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423160"/>
            <a:ext cx="64008" cy="356616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50592" y="2514600"/>
            <a:ext cx="530352" cy="41148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5328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100M+
Ratings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Over 100 million user-movie ratings across thousands of titles to process.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423160"/>
            <a:ext cx="2697480" cy="3566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423160"/>
            <a:ext cx="64008" cy="3566160"/>
          </a:xfrm>
          <a:prstGeom prst="rect">
            <a:avLst/>
          </a:prstGeom>
          <a:solidFill>
            <a:srgbClr val="3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0952" y="2514600"/>
            <a:ext cx="530352" cy="411480"/>
          </a:xfrm>
          <a:prstGeom prst="rect">
            <a:avLst/>
          </a:prstGeom>
          <a:solidFill>
            <a:srgbClr val="3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5328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0175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Extreme
Sparsity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88620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User-movie matrix is extremely sparse — most users rate &lt;1% of movies.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423160"/>
            <a:ext cx="2697480" cy="3566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423160"/>
            <a:ext cx="64008" cy="356616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11312" y="2514600"/>
            <a:ext cx="530352" cy="41148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5328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0175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Prediction
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88620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Need accurate predictions at scale with minimal error (RMSE).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2423160"/>
            <a:ext cx="2697480" cy="3566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60" y="2423160"/>
            <a:ext cx="64008" cy="3566160"/>
          </a:xfrm>
          <a:prstGeom prst="rect">
            <a:avLst/>
          </a:prstGeom>
          <a:solidFill>
            <a:srgbClr val="4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091672" y="2514600"/>
            <a:ext cx="530352" cy="411480"/>
          </a:xfrm>
          <a:prstGeom prst="rect">
            <a:avLst/>
          </a:prstGeom>
          <a:solidFill>
            <a:srgbClr val="4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09960" y="25328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0175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Memory
Constraints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88620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Must process large datasets on limited computational resources.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126480"/>
            <a:ext cx="11365992" cy="4114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172200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  <a:latin typeface="Calibri"/>
              </a:rPr>
              <a:t>VISUAL: Sparse matrix illustration — user × movie grid with mostly empty cells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207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0014"/>
                </a:solidFill>
                <a:latin typeface="Calibri"/>
              </a:rPr>
              <a:t>NETFLIX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Calibri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Dataset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Understanding User Behavior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89888"/>
            <a:ext cx="5303520" cy="2468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vie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35608"/>
            <a:ext cx="5212080" cy="2377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3995928"/>
            <a:ext cx="5303520" cy="2468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ser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41648"/>
            <a:ext cx="5212080" cy="2377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897880" y="1389888"/>
            <a:ext cx="594360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1389888"/>
            <a:ext cx="64008" cy="141732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48132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4"/>
                </a:solidFill>
                <a:latin typeface="Calibri"/>
              </a:rPr>
              <a:t>POSITIVITY 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7556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Users prefer 3 to 5 stars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12140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Ratings of 4 ★ dominate — strong optimistic skew in the dataset.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2944368"/>
            <a:ext cx="594360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2944368"/>
            <a:ext cx="64008" cy="14173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03580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800"/>
                </a:solidFill>
                <a:latin typeface="Calibri"/>
              </a:rPr>
              <a:t>THE LONG 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31012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Few movies dominate interactions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675887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Thousands of niche movies receive very little interaction — the long-tail effect.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4498848"/>
            <a:ext cx="5943600" cy="20299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rating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544568"/>
            <a:ext cx="5852160" cy="193852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65760" y="6492240"/>
            <a:ext cx="5303520" cy="25603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  <a:latin typeface="Calibri"/>
              </a:rPr>
              <a:t>TAKEAWAY: Recs must balance popularity and personalization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207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0014"/>
                </a:solidFill>
                <a:latin typeface="Calibri"/>
              </a:rPr>
              <a:t>NETFLIX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Calibri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 Engineering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Processing Large-Scale Data Efficiently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2011680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2011680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7335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RAW
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0487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100M+ ratings
2 GB text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5374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0014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9776" y="1508760"/>
            <a:ext cx="2011680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9776" y="1508760"/>
            <a:ext cx="2011680" cy="64008"/>
          </a:xfrm>
          <a:prstGeom prst="rect">
            <a:avLst/>
          </a:prstGeom>
          <a:solidFill>
            <a:srgbClr val="3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6936" y="167335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PARQUET
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240487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10x compression
Fast I/O 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5374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0014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93792" y="1508760"/>
            <a:ext cx="2011680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1508760"/>
            <a:ext cx="201168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167335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TEMPORAL
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40487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80/20 train/test
Date-ordered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25374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0014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07808" y="1508760"/>
            <a:ext cx="2011680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07808" y="1508760"/>
            <a:ext cx="2011680" cy="64008"/>
          </a:xfrm>
          <a:prstGeom prst="rect">
            <a:avLst/>
          </a:prstGeom>
          <a:solidFill>
            <a:srgbClr val="4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4968" y="167335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SPARSE
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240487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SciPy CSR format
Memory efficient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4" y="25374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0014"/>
                </a:solidFill>
                <a:latin typeface="Calibri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21824" y="1508760"/>
            <a:ext cx="2011680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21824" y="1508760"/>
            <a:ext cx="2011680" cy="64008"/>
          </a:xfrm>
          <a:prstGeom prst="rect">
            <a:avLst/>
          </a:prstGeom>
          <a:solidFill>
            <a:srgbClr val="C05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8984" y="167335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ML
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58984" y="2404872"/>
            <a:ext cx="1828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CF · ALS · SVD
Pipeline 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041648"/>
            <a:ext cx="5577840" cy="2487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041648"/>
            <a:ext cx="64008" cy="248716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1788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TEMPORAL VALIDATION  —  No Data Leakage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7000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•  Ratings sorted chronologically by 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1023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•  80% training  /  20% test split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5046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•  Future data never leaks into 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9070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•  Mirrors real-world deployment constraints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041648"/>
            <a:ext cx="5577840" cy="24871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041648"/>
            <a:ext cx="64008" cy="248716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1788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MEMORY OPTIMIZATION  —  Scale on Any Hardware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7000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•  Converted raw text to Parquet 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1023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•  SciPy sparse matrices (CSR) used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5046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•  Memory footprint reduced significantly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9070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•  Runs on standard consumer hardware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207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0014"/>
                </a:solidFill>
                <a:latin typeface="Calibri"/>
              </a:rPr>
              <a:t>NETFLIX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Calibri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Recommendation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Algorithms Evaluated — Three Approaches, One Winner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57600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657600" cy="73152"/>
          </a:xfrm>
          <a:prstGeom prst="rect">
            <a:avLst/>
          </a:prstGeom>
          <a:solidFill>
            <a:srgbClr val="3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6420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Item-Based CF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3055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80D0"/>
                </a:solidFill>
                <a:latin typeface="Calibri"/>
              </a:rPr>
              <a:t>Collaborative Filtering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3291840" cy="228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Recommends movies that are mathematically similar to ones the user already liked.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75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Calibri"/>
              </a:rPr>
              <a:t>✓  Cosine similarity between item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782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Calibri"/>
              </a:rPr>
              <a:t>✓  Intuitive &amp; interpretable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Calibri"/>
              </a:rPr>
              <a:t>✓  No training needed — instant lookup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82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⚠  Struggles with very sparse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1463040"/>
            <a:ext cx="3657600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0248" y="1463040"/>
            <a:ext cx="365760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166420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13055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800"/>
                </a:solidFill>
                <a:latin typeface="Calibri"/>
              </a:rPr>
              <a:t>Alternating Least Squares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53128" y="2468880"/>
            <a:ext cx="3291840" cy="228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256032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Purpose-built for sparse datasets. Iteratively solves user/item latent factors.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675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Calibri"/>
              </a:rPr>
              <a:t>✓  Designed for sparse matrix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0782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Calibri"/>
              </a:rPr>
              <a:t>✓  Efficient matrix factorization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44805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Calibri"/>
              </a:rPr>
              <a:t>✓  Scalable and parallelizable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882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⚠  Requires iteration tuning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74736" y="1463040"/>
            <a:ext cx="3657600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74736" y="1463040"/>
            <a:ext cx="3657600" cy="73152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6" y="166420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SVD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2130552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014"/>
                </a:solidFill>
                <a:latin typeface="Calibri"/>
              </a:rPr>
              <a:t>Singular Value Decomposition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57616" y="2468880"/>
            <a:ext cx="3291840" cy="228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256032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Learns hidden user and movie latent features — capturing deep preference patterns.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36758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Calibri"/>
              </a:rPr>
              <a:t>✓  Discovers latent preference factors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0782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Calibri"/>
              </a:rPr>
              <a:t>✓  Captures hidden content patterns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44805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5E5"/>
                </a:solidFill>
                <a:latin typeface="Calibri"/>
              </a:rPr>
              <a:t>✓  Best overall prediction accuracy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4882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⚠  RMSE = 0.98 on test 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57616" y="6080760"/>
            <a:ext cx="3291840" cy="347472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3336" y="610819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🏆  NETFLIX PRIZE WINNER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207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0014"/>
                </a:solidFill>
                <a:latin typeface="Calibri"/>
              </a:rPr>
              <a:t>NETFLIX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Calibri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Performance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Benchmarking the Models — RMSE &amp; MAP@10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440680" cy="1298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64008" cy="129844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RMSE  —  Root Mean Square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0195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Measures rating prediction accuracy.
Lower score = better prediction.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5440680" cy="1298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64008" cy="129844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MAP@10  —  Mean Average Precision @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Measures relevance of top-10 recommendations
against what user actually watched.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0014"/>
                </a:solidFill>
                <a:latin typeface="Calibri"/>
              </a:rPr>
              <a:t>MODEL COMPARISON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46120"/>
            <a:ext cx="2834640" cy="36576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2697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46120"/>
            <a:ext cx="2011680" cy="36576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291840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RMSE 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3246120"/>
            <a:ext cx="2011680" cy="36576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3291840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MAP@10 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3246120"/>
            <a:ext cx="4754880" cy="36576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3291840"/>
            <a:ext cx="4617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PERFORMANCE VERDICT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611880"/>
            <a:ext cx="2834640" cy="62179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03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Item-Based CF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611880"/>
            <a:ext cx="2011680" cy="62179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70332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1.24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3611880"/>
            <a:ext cx="2011680" cy="62179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370332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0.031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3611880"/>
            <a:ext cx="4754880" cy="62179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370332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Baseline — interpretable but limited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270248"/>
            <a:ext cx="2834640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36168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270248"/>
            <a:ext cx="2011680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436168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1.08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49240" y="4270248"/>
            <a:ext cx="2011680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436168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0.047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270248"/>
            <a:ext cx="4754880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0" y="4361688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Good — handles sparsity well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928616"/>
            <a:ext cx="2834640" cy="621792"/>
          </a:xfrm>
          <a:prstGeom prst="rect">
            <a:avLst/>
          </a:prstGeom>
          <a:solidFill>
            <a:srgbClr val="22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020056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SVD  ★ Winner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4928616"/>
            <a:ext cx="2011680" cy="621792"/>
          </a:xfrm>
          <a:prstGeom prst="rect">
            <a:avLst/>
          </a:prstGeom>
          <a:solidFill>
            <a:srgbClr val="22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5020056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  <a:latin typeface="Calibri"/>
              </a:rPr>
              <a:t>0.98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4928616"/>
            <a:ext cx="2011680" cy="621792"/>
          </a:xfrm>
          <a:prstGeom prst="rect">
            <a:avLst/>
          </a:prstGeom>
          <a:solidFill>
            <a:srgbClr val="22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40680" y="5020056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0.061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4928616"/>
            <a:ext cx="4754880" cy="621792"/>
          </a:xfrm>
          <a:prstGeom prst="rect">
            <a:avLst/>
          </a:prstGeom>
          <a:solidFill>
            <a:srgbClr val="22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5020056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Best — Prize-winning algorithm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440680"/>
            <a:ext cx="11365992" cy="10789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5440680"/>
            <a:ext cx="91440" cy="1078992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522976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🏆  SVD — RMSE 0.98  |  MAP@10 0.061  — Best Overall Performance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007608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Successfully learned hidden user and movie latent features. The same algorithm that won the original Netflix Prize competition.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1207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0014"/>
                </a:solidFill>
                <a:latin typeface="Calibri"/>
              </a:rPr>
              <a:t>NETFLIX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Calibri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Interactive Recommendation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Explainable AI for Recommendations — Built with Streamlit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35608"/>
            <a:ext cx="6583680" cy="5120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35608"/>
            <a:ext cx="6583680" cy="33832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904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  <a:latin typeface="Calibri"/>
              </a:rPr>
              <a:t>● ● 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49047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Calibri"/>
              </a:rPr>
              <a:t>localhost:8501  —  Netflix Recommender  |  Streamlit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73936"/>
            <a:ext cx="1600200" cy="4782312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1109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0014"/>
                </a:solidFill>
                <a:latin typeface="Calibri"/>
              </a:rPr>
              <a:t>🎬 Recommender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95728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Calibri"/>
              </a:rPr>
              <a:t>› User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Calibri"/>
              </a:rPr>
              <a:t>›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82112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Calibri"/>
              </a:rPr>
              <a:t>› Top-K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75304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Calibri"/>
              </a:rPr>
              <a:t>› 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5688" y="1837944"/>
            <a:ext cx="4828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🏆  Your Top 10 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75688" y="2313432"/>
            <a:ext cx="4828032" cy="65836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244144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0014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236829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Shawshank Redemption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45973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800"/>
                </a:solidFill>
                <a:latin typeface="Calibri"/>
              </a:rPr>
              <a:t>★★★★★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75688" y="3063240"/>
            <a:ext cx="4828032" cy="65836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319125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0014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311810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Schindler's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20954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800"/>
                </a:solidFill>
                <a:latin typeface="Calibri"/>
              </a:rPr>
              <a:t>★★★★★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75688" y="3813048"/>
            <a:ext cx="4828032" cy="65836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394106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0014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38679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Dark Knight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395935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800"/>
                </a:solidFill>
                <a:latin typeface="Calibri"/>
              </a:rPr>
              <a:t>★★★★☆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75688" y="4562856"/>
            <a:ext cx="4828032" cy="65836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469087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0014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461772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Pulp Fiction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470916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800"/>
                </a:solidFill>
                <a:latin typeface="Calibri"/>
              </a:rPr>
              <a:t>★★★★☆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75688" y="5312664"/>
            <a:ext cx="4828032" cy="65836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8840" y="544068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0014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7168" y="536752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Forrest Gump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0368" y="545896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800"/>
                </a:solidFill>
                <a:latin typeface="Calibri"/>
              </a:rPr>
              <a:t>★★★★☆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1435608"/>
            <a:ext cx="4663440" cy="1600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78040" y="1435608"/>
            <a:ext cx="64008" cy="160020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154533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🔍  Why was this recommended?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03911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Extracts SVD latent factors to mathematically explain similarity. No black box.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3172968"/>
            <a:ext cx="4663440" cy="1600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78040" y="3172968"/>
            <a:ext cx="64008" cy="1600200"/>
          </a:xfrm>
          <a:prstGeom prst="rect">
            <a:avLst/>
          </a:prstGeom>
          <a:solidFill>
            <a:srgbClr val="3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2826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 Latent Factor Explainability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377647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Visualizes the hidden genre/preference dimensions that drove each recommendation.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78040" y="4910328"/>
            <a:ext cx="4663440" cy="1600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78040" y="4910328"/>
            <a:ext cx="64008" cy="1600200"/>
          </a:xfrm>
          <a:prstGeom prst="rect">
            <a:avLst/>
          </a:prstGeom>
          <a:solidFill>
            <a:srgbClr val="4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502005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💬  Example Explanation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551383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"Because you liked Movie A &amp; B, Movie C shares similar latent features."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5989320" cy="672998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89320" y="0"/>
            <a:ext cx="50292" cy="685800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50014"/>
                </a:solidFill>
                <a:latin typeface="Calibri"/>
              </a:rPr>
              <a:t>NETFLIX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Calibri"/>
              </a:rPr>
              <a:t>ORIGINAL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371600" cy="36576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Conclusions &amp;
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0014"/>
                </a:solidFill>
                <a:latin typeface="Calibri"/>
              </a:rPr>
              <a:t>PROJECT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3580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✓  Processed 100M+ ratings efficiently on standard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✓  Built a scalable end-to-end recommendation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5020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✓  SVD achieved best-in-class RMSE of 0.98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0740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✓  Generated explainable recommendations via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5E5"/>
                </a:solidFill>
                <a:latin typeface="Calibri"/>
              </a:rPr>
              <a:t>✓  Full latent-factor transparency — no black 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76672"/>
            <a:ext cx="5303520" cy="1188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376672"/>
            <a:ext cx="64008" cy="1188720"/>
          </a:xfrm>
          <a:prstGeom prst="rect">
            <a:avLst/>
          </a:prstGeom>
          <a:solidFill>
            <a:srgbClr val="E5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0014"/>
                </a:solidFill>
                <a:latin typeface="Calibri"/>
              </a:rPr>
              <a:t>FINAL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150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Scalable ML can transform content discovery through personalized recommendations.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38912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0014"/>
                </a:solidFill>
                <a:latin typeface="Calibri"/>
              </a:rPr>
              <a:t>FUTURE DIRECTIONS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777240"/>
            <a:ext cx="562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Road Ahead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389888"/>
            <a:ext cx="562356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389888"/>
            <a:ext cx="64008" cy="1143000"/>
          </a:xfrm>
          <a:prstGeom prst="rect">
            <a:avLst/>
          </a:prstGeom>
          <a:solidFill>
            <a:srgbClr val="4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4813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🔀  Hybrid Recommendation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2024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Combine collaborative filtering with content-based filtering for richer results.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70048"/>
            <a:ext cx="562356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70048"/>
            <a:ext cx="64008" cy="1143000"/>
          </a:xfrm>
          <a:prstGeom prst="rect">
            <a:avLst/>
          </a:prstGeom>
          <a:solidFill>
            <a:srgbClr val="3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76148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🧊  Cold-Start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004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Use genres, actors, and directors metadata to onboard new users with no history.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50208"/>
            <a:ext cx="562356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950208"/>
            <a:ext cx="64008" cy="1143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4164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📡  Real-Time Streaming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8056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Live recommendation updates as users watch — event-driven architecture.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30368"/>
            <a:ext cx="562356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230368"/>
            <a:ext cx="64008" cy="1143000"/>
          </a:xfrm>
          <a:prstGeom prst="rect">
            <a:avLst/>
          </a:prstGeom>
          <a:solidFill>
            <a:srgbClr val="C05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3218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🌐  Context-Aware Recommendations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76072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Calibri"/>
              </a:rPr>
              <a:t>Factor in time of day, device type, and viewing session patterns.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